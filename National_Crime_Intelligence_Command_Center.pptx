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97280" y="914400"/>
            <a:ext cx="9997135" cy="5029200"/>
          </a:xfrm>
          <a:prstGeom prst="roundRect">
            <a:avLst/>
          </a:prstGeom>
          <a:solidFill>
            <a:srgbClr val="131C31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45920" y="1280160"/>
            <a:ext cx="8686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0B981"/>
                </a:solidFill>
              </a:defRPr>
            </a:pPr>
            <a:r>
              <a:t>🏛️ BIG DATA ANALYTICS CAPSTONE PROJECT • APACHE HADOOP &amp; SPARK ECOSYSTEM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1737360"/>
            <a:ext cx="8961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8FAFC"/>
                </a:solidFill>
              </a:defRPr>
            </a:pPr>
            <a:r>
              <a:t>National Crime Intelligence Command Center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2926080"/>
            <a:ext cx="8961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0EA5E9"/>
                </a:solidFill>
              </a:defRPr>
            </a:pPr>
            <a:r>
              <a:t>A Distributed Lambda Architecture for Longitudinal Crime Analytics &amp; Real-Time Anomaly Surveillance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1645920" y="3749039"/>
            <a:ext cx="8869680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45920" y="3931920"/>
            <a:ext cx="896112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8FAFC"/>
                </a:solidFill>
              </a:defRPr>
            </a:pPr>
            <a:r>
              <a:t>Team Members: Suryansh Saraf  •  Manas Dhumal  •  Soham Hande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Department: B.Tech Artificial Intelligence &amp; Data Science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Institution: SVKM's NMIMS, Navi Mumbai, Maharashtra, India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SVKM's NMIMS Navi Mumbai • B.Tech AI &amp; Data Science • Slide 1 of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366F1"/>
                </a:solidFill>
              </a:defRPr>
            </a:pPr>
            <a:r>
              <a:t>● CHALLENGES &amp; SYSTEM GOALS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Executive Problem Statement &amp; Research Motivation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663440"/>
          </a:xfrm>
          <a:prstGeom prst="roundRect">
            <a:avLst/>
          </a:prstGeom>
          <a:solidFill>
            <a:srgbClr val="131C31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45920"/>
            <a:ext cx="45720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43F5E"/>
                </a:solidFill>
              </a:defRPr>
            </a:pPr>
            <a:r>
              <a:t>⚠️ Limitations in Traditional Crime Reporting</a:t>
            </a:r>
          </a:p>
          <a:p>
            <a:pPr>
              <a:spcBef>
                <a:spcPts val="1000"/>
              </a:spcBef>
              <a:defRPr sz="1300" b="1">
                <a:solidFill>
                  <a:srgbClr val="F8FAFC"/>
                </a:solidFill>
              </a:defRPr>
            </a:pPr>
            <a:r>
              <a:t>• High Latency of Retrospective Reports: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   NCRB compendiums are published with a 12-18 month lag, precluding proactive deployment.</a:t>
            </a:r>
          </a:p>
          <a:p>
            <a:pPr>
              <a:spcBef>
                <a:spcPts val="1000"/>
              </a:spcBef>
              <a:defRPr sz="1300" b="1">
                <a:solidFill>
                  <a:srgbClr val="F8FAFC"/>
                </a:solidFill>
              </a:defRPr>
            </a:pPr>
            <a:r>
              <a:t>• Multi-Decade Schema Entropy: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   22 years of Indian records (2001-2022) exhibit severe boundary shifts, state reorganizations (Telangana 2014), and name variations.</a:t>
            </a:r>
          </a:p>
          <a:p>
            <a:pPr>
              <a:spcBef>
                <a:spcPts val="1000"/>
              </a:spcBef>
              <a:defRPr sz="1300" b="1">
                <a:solidFill>
                  <a:srgbClr val="F8FAFC"/>
                </a:solidFill>
              </a:defRPr>
            </a:pPr>
            <a:r>
              <a:t>• Geospatial Disconnection: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   Standard tables lack latitude/longitude coordinates, preventing spatial choropleth clustering.</a:t>
            </a:r>
          </a:p>
          <a:p>
            <a:pPr>
              <a:spcBef>
                <a:spcPts val="1000"/>
              </a:spcBef>
              <a:defRPr sz="1300" b="1">
                <a:solidFill>
                  <a:srgbClr val="F8FAFC"/>
                </a:solidFill>
              </a:defRPr>
            </a:pPr>
            <a:r>
              <a:t>• Batch vs Real-Time Gap: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   Traditional batch jobs cannot alert field units to emerging localized incident surges occurring tonight.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663440"/>
          </a:xfrm>
          <a:prstGeom prst="roundRect">
            <a:avLst/>
          </a:prstGeom>
          <a:solidFill>
            <a:srgbClr val="131C31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645920"/>
            <a:ext cx="4663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0B981"/>
                </a:solidFill>
              </a:defRPr>
            </a:pPr>
            <a:r>
              <a:t>🎯 Proposed Distributed BDA Solution</a:t>
            </a:r>
          </a:p>
          <a:p>
            <a:pPr>
              <a:spcBef>
                <a:spcPts val="1000"/>
              </a:spcBef>
              <a:defRPr sz="1300" b="1">
                <a:solidFill>
                  <a:srgbClr val="F8FAFC"/>
                </a:solidFill>
              </a:defRPr>
            </a:pPr>
            <a:r>
              <a:t>✔ Enterprise Lambda Architecture: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   Unifies massive historical HDFS batch analytics with sub-second Kafka streaming anomaly detection.</a:t>
            </a:r>
          </a:p>
          <a:p>
            <a:pPr>
              <a:spcBef>
                <a:spcPts val="1000"/>
              </a:spcBef>
              <a:defRPr sz="1300" b="1">
                <a:solidFill>
                  <a:srgbClr val="F8FAFC"/>
                </a:solidFill>
              </a:defRPr>
            </a:pPr>
            <a:r>
              <a:t>✔ 18,146 District-Year Vectors: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   Cleans, deduplicates, and maps all Indian records into 36 canonical States and Union Territories.</a:t>
            </a:r>
          </a:p>
          <a:p>
            <a:pPr>
              <a:spcBef>
                <a:spcPts val="1000"/>
              </a:spcBef>
              <a:defRPr sz="1300" b="1">
                <a:solidFill>
                  <a:srgbClr val="F8FAFC"/>
                </a:solidFill>
              </a:defRPr>
            </a:pPr>
            <a:r>
              <a:t>✔ Spatial Imputation via Gazetteer: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   Broadcasts an O(1) in-memory gazetteer mapping precise centroids to every police district.</a:t>
            </a:r>
          </a:p>
          <a:p>
            <a:pPr>
              <a:spcBef>
                <a:spcPts val="1000"/>
              </a:spcBef>
              <a:defRPr sz="1300" b="1">
                <a:solidFill>
                  <a:srgbClr val="F8FAFC"/>
                </a:solidFill>
              </a:defRPr>
            </a:pPr>
            <a:r>
              <a:t>✔ Rolling Gaussian Z-Score Engine: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   Statistically flags localized surges exceeding 2.5σ over baseline mean for tactical patrol dispatch.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SVKM's NMIMS Navi Mumbai • B.Tech AI &amp; Data Science • Slide 2 of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366F1"/>
                </a:solidFill>
              </a:defRPr>
            </a:pPr>
            <a:r>
              <a:t>● SYSTEM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End-to-End Distributed Lambda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429000" cy="4663440"/>
          </a:xfrm>
          <a:prstGeom prst="roundRect">
            <a:avLst/>
          </a:prstGeom>
          <a:solidFill>
            <a:srgbClr val="131C31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691640"/>
            <a:ext cx="2971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EA5E9"/>
                </a:solidFill>
              </a:defRPr>
            </a:pPr>
            <a:r>
              <a:t>1. BATCH LAYER</a:t>
            </a:r>
          </a:p>
          <a:p>
            <a:pPr>
              <a:spcAft>
                <a:spcPts val="1200"/>
              </a:spcAft>
              <a:defRPr sz="1200">
                <a:solidFill>
                  <a:srgbClr val="94A3B8"/>
                </a:solidFill>
              </a:defRPr>
            </a:pPr>
            <a:r>
              <a:t>Hadoop HDFS + PySpark ETL</a:t>
            </a:r>
          </a:p>
          <a:p>
            <a:pPr>
              <a:spcBef>
                <a:spcPts val="600"/>
              </a:spcBef>
              <a:defRPr sz="1200" b="1">
                <a:solidFill>
                  <a:srgbClr val="F8FAFC"/>
                </a:solidFill>
              </a:defRPr>
            </a:pPr>
            <a:r>
              <a:t>• Hadoop HDFS v3.2.1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Replication R=3, Snappy Parquet storage in /data/crimes/.</a:t>
            </a:r>
          </a:p>
          <a:p>
            <a:pPr>
              <a:spcBef>
                <a:spcPts val="600"/>
              </a:spcBef>
              <a:defRPr sz="1200" b="1">
                <a:solidFill>
                  <a:srgbClr val="F8FAFC"/>
                </a:solidFill>
              </a:defRPr>
            </a:pPr>
            <a:r>
              <a:t>• PySpark 3.5 Distributed ETL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Cleans 18,146 vectors; normalizes 36 States/UTs.</a:t>
            </a:r>
          </a:p>
          <a:p>
            <a:pPr>
              <a:spcBef>
                <a:spcPts val="600"/>
              </a:spcBef>
              <a:defRPr sz="1200" b="1">
                <a:solidFill>
                  <a:srgbClr val="F8FAFC"/>
                </a:solidFill>
              </a:defRPr>
            </a:pPr>
            <a:r>
              <a:t>• 29-Dimensional Feature Space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Violent, property, women crime ratios &amp; demographics.</a:t>
            </a:r>
          </a:p>
          <a:p>
            <a:pPr>
              <a:spcBef>
                <a:spcPts val="600"/>
              </a:spcBef>
              <a:defRPr sz="1200" b="1">
                <a:solidFill>
                  <a:srgbClr val="F8FAFC"/>
                </a:solidFill>
              </a:defRPr>
            </a:pPr>
            <a:r>
              <a:t>• Apache Hive Data Warehouse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External tables partitioned by YEAR &amp; STATE_UT.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463040"/>
            <a:ext cx="3429000" cy="4663440"/>
          </a:xfrm>
          <a:prstGeom prst="roundRect">
            <a:avLst/>
          </a:prstGeom>
          <a:solidFill>
            <a:srgbClr val="131C31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691640"/>
            <a:ext cx="2971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59E0B"/>
                </a:solidFill>
              </a:defRPr>
            </a:pPr>
            <a:r>
              <a:t>2. SPEED LAYER</a:t>
            </a:r>
          </a:p>
          <a:p>
            <a:pPr>
              <a:spcAft>
                <a:spcPts val="1200"/>
              </a:spcAft>
              <a:defRPr sz="1200">
                <a:solidFill>
                  <a:srgbClr val="94A3B8"/>
                </a:solidFill>
              </a:defRPr>
            </a:pPr>
            <a:r>
              <a:t>Apache Kafka Streaming</a:t>
            </a:r>
          </a:p>
          <a:p>
            <a:pPr>
              <a:spcBef>
                <a:spcPts val="600"/>
              </a:spcBef>
              <a:defRPr sz="1200" b="1">
                <a:solidFill>
                  <a:srgbClr val="F8FAFC"/>
                </a:solidFill>
              </a:defRPr>
            </a:pPr>
            <a:r>
              <a:t>• Topic 'live_crimes'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Simulates real-time police incident dispatches across India.</a:t>
            </a:r>
          </a:p>
          <a:p>
            <a:pPr>
              <a:spcBef>
                <a:spcPts val="600"/>
              </a:spcBef>
              <a:defRPr sz="1200" b="1">
                <a:solidFill>
                  <a:srgbClr val="F8FAFC"/>
                </a:solidFill>
              </a:defRPr>
            </a:pPr>
            <a:r>
              <a:t>• 8 Broker Partitions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P:0 to P:7 with deterministic hashing and offset tracking.</a:t>
            </a:r>
          </a:p>
          <a:p>
            <a:pPr>
              <a:spcBef>
                <a:spcPts val="600"/>
              </a:spcBef>
              <a:defRPr sz="1200" b="1">
                <a:solidFill>
                  <a:srgbClr val="F8FAFC"/>
                </a:solidFill>
              </a:defRPr>
            </a:pPr>
            <a:r>
              <a:t>• Sub-20ms Latency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High-throughput publish-subscribe streaming ingest.</a:t>
            </a:r>
          </a:p>
          <a:p>
            <a:pPr>
              <a:spcBef>
                <a:spcPts val="600"/>
              </a:spcBef>
              <a:defRPr sz="1200" b="1">
                <a:solidFill>
                  <a:srgbClr val="F8FAFC"/>
                </a:solidFill>
              </a:defRPr>
            </a:pPr>
            <a:r>
              <a:t>• Rolling Z-Score Detector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Flags statistical surges: Z = (X - μ) / σ &gt;= 2.5σ.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80" y="1463040"/>
            <a:ext cx="3429000" cy="4663440"/>
          </a:xfrm>
          <a:prstGeom prst="roundRect">
            <a:avLst/>
          </a:prstGeom>
          <a:solidFill>
            <a:srgbClr val="131C31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83880" y="1691640"/>
            <a:ext cx="2971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B981"/>
                </a:solidFill>
              </a:defRPr>
            </a:pPr>
            <a:r>
              <a:t>3. SERVING &amp; ML LAYER</a:t>
            </a:r>
          </a:p>
          <a:p>
            <a:pPr>
              <a:spcAft>
                <a:spcPts val="1200"/>
              </a:spcAft>
              <a:defRPr sz="1200">
                <a:solidFill>
                  <a:srgbClr val="94A3B8"/>
                </a:solidFill>
              </a:defRPr>
            </a:pPr>
            <a:r>
              <a:t>Spark MLlib + React Command Center</a:t>
            </a:r>
          </a:p>
          <a:p>
            <a:pPr>
              <a:spcBef>
                <a:spcPts val="600"/>
              </a:spcBef>
              <a:defRPr sz="1200" b="1">
                <a:solidFill>
                  <a:srgbClr val="F8FAFC"/>
                </a:solidFill>
              </a:defRPr>
            </a:pPr>
            <a:r>
              <a:t>• Spark MLlib KMeans (K=15)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Spatial clustering into 15 geographic crime corridors.</a:t>
            </a:r>
          </a:p>
          <a:p>
            <a:pPr>
              <a:spcBef>
                <a:spcPts val="600"/>
              </a:spcBef>
              <a:defRPr sz="1200" b="1">
                <a:solidFill>
                  <a:srgbClr val="F8FAFC"/>
                </a:solidFill>
              </a:defRPr>
            </a:pPr>
            <a:r>
              <a:t>• Random Forest Classifier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100 trees, 76.5% accuracy, 0.9412 AUC-ROC, 100% precision.</a:t>
            </a:r>
          </a:p>
          <a:p>
            <a:pPr>
              <a:spcBef>
                <a:spcPts val="600"/>
              </a:spcBef>
              <a:defRPr sz="1200" b="1">
                <a:solidFill>
                  <a:srgbClr val="F8FAFC"/>
                </a:solidFill>
              </a:defRPr>
            </a:pPr>
            <a:r>
              <a:t>• Tactical Leaflet GIS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22-year time travel player (2001-2022) with danger corridors.</a:t>
            </a:r>
          </a:p>
          <a:p>
            <a:pPr>
              <a:spcBef>
                <a:spcPts val="600"/>
              </a:spcBef>
              <a:defRPr sz="1200" b="1">
                <a:solidFill>
                  <a:srgbClr val="F8FAFC"/>
                </a:solidFill>
              </a:defRPr>
            </a:pPr>
            <a:r>
              <a:t>• AI Force Multiplier Sandbox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Simulates patrol saturation &amp; deterrence ROI.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SVKM's NMIMS Navi Mumbai • B.Tech AI &amp; Data Science • Slide 3 of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366F1"/>
                </a:solidFill>
              </a:defRPr>
            </a:pPr>
            <a:r>
              <a:t>● DATA ENGINEERING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Distributed Storage &amp; Data Pipeline: HDFS, PySpark &amp; Hive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429000" cy="4663440"/>
          </a:xfrm>
          <a:prstGeom prst="roundRect">
            <a:avLst/>
          </a:prstGeom>
          <a:solidFill>
            <a:srgbClr val="131C31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691640"/>
            <a:ext cx="2971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EA5E9"/>
                </a:solidFill>
              </a:defRPr>
            </a:pPr>
            <a:r>
              <a:t>📦 Apache Hadoop HDFS</a:t>
            </a:r>
          </a:p>
          <a:p>
            <a:pPr>
              <a:spcBef>
                <a:spcPts val="800"/>
              </a:spcBef>
              <a:defRPr sz="1200" b="1">
                <a:solidFill>
                  <a:srgbClr val="F8FAFC"/>
                </a:solidFill>
              </a:defRPr>
            </a:pPr>
            <a:r>
              <a:t>• Cluster Topology: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NameNode (9870/9000) &amp; DataNodes (9864) with block replication factor R=3.</a:t>
            </a:r>
          </a:p>
          <a:p>
            <a:pPr>
              <a:spcBef>
                <a:spcPts val="800"/>
              </a:spcBef>
              <a:defRPr sz="1200" b="1">
                <a:solidFill>
                  <a:srgbClr val="F8FAFC"/>
                </a:solidFill>
              </a:defRPr>
            </a:pPr>
            <a:r>
              <a:t>• Snappy-Compressed Parquet: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Columnar binary format delivers 82% disk footprint reduction over raw CSV.</a:t>
            </a:r>
          </a:p>
          <a:p>
            <a:pPr>
              <a:spcBef>
                <a:spcPts val="800"/>
              </a:spcBef>
              <a:defRPr sz="1200" b="1">
                <a:solidFill>
                  <a:srgbClr val="F8FAFC"/>
                </a:solidFill>
              </a:defRPr>
            </a:pPr>
            <a:r>
              <a:t>• Predicate Pushdown: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Min/max metadata per column chunk allows PySpark to skip reading irrelevant blocks.</a:t>
            </a:r>
          </a:p>
          <a:p>
            <a:pPr>
              <a:spcBef>
                <a:spcPts val="800"/>
              </a:spcBef>
              <a:defRPr sz="1200" b="1">
                <a:solidFill>
                  <a:srgbClr val="F8FAFC"/>
                </a:solidFill>
              </a:defRPr>
            </a:pPr>
            <a:r>
              <a:t>• Storage URI Endpoints: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hdfs://namenode:9000/data/crimes/ partitioned by Year and State.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463040"/>
            <a:ext cx="3429000" cy="4663440"/>
          </a:xfrm>
          <a:prstGeom prst="roundRect">
            <a:avLst/>
          </a:prstGeom>
          <a:solidFill>
            <a:srgbClr val="131C31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17720" y="1691640"/>
            <a:ext cx="2971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59E0B"/>
                </a:solidFill>
              </a:defRPr>
            </a:pPr>
            <a:r>
              <a:t>⚡ Apache PySpark 3.5 ETL</a:t>
            </a:r>
          </a:p>
          <a:p>
            <a:pPr>
              <a:spcBef>
                <a:spcPts val="800"/>
              </a:spcBef>
              <a:defRPr sz="1200" b="1">
                <a:solidFill>
                  <a:srgbClr val="F8FAFC"/>
                </a:solidFill>
              </a:defRPr>
            </a:pPr>
            <a:r>
              <a:t>• 36 Canonical Entities: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Standardizes historical nomenclature shifts (Telangana, Delhi UT, Orissa).</a:t>
            </a:r>
          </a:p>
          <a:p>
            <a:pPr>
              <a:spcBef>
                <a:spcPts val="800"/>
              </a:spcBef>
              <a:defRPr sz="1200" b="1">
                <a:solidFill>
                  <a:srgbClr val="F8FAFC"/>
                </a:solidFill>
              </a:defRPr>
            </a:pPr>
            <a:r>
              <a:t>• Subtotal Pruning: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Filters out duplicate 'TOTAL' and 'STATE TOTAL' rows to prevent double-counting.</a:t>
            </a:r>
          </a:p>
          <a:p>
            <a:pPr>
              <a:spcBef>
                <a:spcPts val="800"/>
              </a:spcBef>
              <a:defRPr sz="1200" b="1">
                <a:solidFill>
                  <a:srgbClr val="F8FAFC"/>
                </a:solidFill>
              </a:defRPr>
            </a:pPr>
            <a:r>
              <a:t>• Spatial Imputation: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Broadcasts gazetteer coordinates [Latitude, Longitude] with O(1) memory lookup.</a:t>
            </a:r>
          </a:p>
          <a:p>
            <a:pPr>
              <a:spcBef>
                <a:spcPts val="800"/>
              </a:spcBef>
              <a:defRPr sz="1200" b="1">
                <a:solidFill>
                  <a:srgbClr val="F8FAFC"/>
                </a:solidFill>
              </a:defRPr>
            </a:pPr>
            <a:r>
              <a:t>• 29-Dimensional Vectors: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Computes violent, property, women, and economic ratios plus demographic density.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463040"/>
            <a:ext cx="3429000" cy="4663440"/>
          </a:xfrm>
          <a:prstGeom prst="roundRect">
            <a:avLst/>
          </a:prstGeom>
          <a:solidFill>
            <a:srgbClr val="131C31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75320" y="1691640"/>
            <a:ext cx="2971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B981"/>
                </a:solidFill>
              </a:defRPr>
            </a:pPr>
            <a:r>
              <a:t>🗄️ Apache Hive Warehouse</a:t>
            </a:r>
          </a:p>
          <a:p>
            <a:pPr>
              <a:spcBef>
                <a:spcPts val="800"/>
              </a:spcBef>
              <a:defRPr sz="1200" b="1">
                <a:solidFill>
                  <a:srgbClr val="F8FAFC"/>
                </a:solidFill>
              </a:defRPr>
            </a:pPr>
            <a:r>
              <a:t>• Database Architecture: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Managed database 'india_crime_db' over HDFS Parquet storage.</a:t>
            </a:r>
          </a:p>
          <a:p>
            <a:pPr>
              <a:spcBef>
                <a:spcPts val="800"/>
              </a:spcBef>
              <a:defRPr sz="1200" b="1">
                <a:solidFill>
                  <a:srgbClr val="F8FAFC"/>
                </a:solidFill>
              </a:defRPr>
            </a:pPr>
            <a:r>
              <a:t>• External Table Catalog: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Tables: crimes_raw, crimes_clean, and crimes_features.</a:t>
            </a:r>
          </a:p>
          <a:p>
            <a:pPr>
              <a:spcBef>
                <a:spcPts val="800"/>
              </a:spcBef>
              <a:defRPr sz="1200" b="1">
                <a:solidFill>
                  <a:srgbClr val="F8FAFC"/>
                </a:solidFill>
              </a:defRPr>
            </a:pPr>
            <a:r>
              <a:t>• Hierarchical Partitioning: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Partitioned by (YEAR INT, STATE_UT STRING) enabling partition pruning.</a:t>
            </a:r>
          </a:p>
          <a:p>
            <a:pPr>
              <a:spcBef>
                <a:spcPts val="800"/>
              </a:spcBef>
              <a:defRPr sz="1200" b="1">
                <a:solidFill>
                  <a:srgbClr val="F8FAFC"/>
                </a:solidFill>
              </a:defRPr>
            </a:pPr>
            <a:r>
              <a:t>• OLAP Analytics: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Supports multi-dimensional SQL aggregation across time, regions, and offense types.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SVKM's NMIMS Navi Mumbai • B.Tech AI &amp; Data Science • Slide 4 of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366F1"/>
                </a:solidFill>
              </a:defRPr>
            </a:pPr>
            <a:r>
              <a:t>● SERVING &amp; VISUALIZATION LAYER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Tactical GIS Command Center &amp; 22-Year Temporal Player</a:t>
            </a:r>
          </a:p>
        </p:txBody>
      </p:sp>
      <p:pic>
        <p:nvPicPr>
          <p:cNvPr id="4" name="Picture 3" descr="slide1_gis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6583680" cy="41148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498079" y="1463040"/>
            <a:ext cx="3977639" cy="4663440"/>
          </a:xfrm>
          <a:prstGeom prst="roundRect">
            <a:avLst/>
          </a:prstGeom>
          <a:solidFill>
            <a:srgbClr val="131C31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26679" y="1691640"/>
            <a:ext cx="3520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EA5E9"/>
                </a:solidFill>
              </a:defRPr>
            </a:pPr>
            <a:r>
              <a:t>🗺️ Tactical GIS Interface</a:t>
            </a:r>
          </a:p>
          <a:p>
            <a:pPr>
              <a:spcBef>
                <a:spcPts val="1000"/>
              </a:spcBef>
              <a:defRPr sz="1200" b="1">
                <a:solidFill>
                  <a:srgbClr val="F8FAFC"/>
                </a:solidFill>
              </a:defRPr>
            </a:pPr>
            <a:r>
              <a:t>• 22-Year Time-Travel Engine: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 Scrub slider dynamically updates state polygon choropleths (2001-2022) in client memory.</a:t>
            </a:r>
          </a:p>
          <a:p>
            <a:pPr>
              <a:spcBef>
                <a:spcPts val="1000"/>
              </a:spcBef>
              <a:defRPr sz="1200" b="1">
                <a:solidFill>
                  <a:srgbClr val="F8FAFC"/>
                </a:solidFill>
              </a:defRPr>
            </a:pPr>
            <a:r>
              <a:t>• Leaflet + Esri ArcGIS Tiles: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 Interactive zoomable map of all 36 Indian States and Union Territories.</a:t>
            </a:r>
          </a:p>
          <a:p>
            <a:pPr>
              <a:spcBef>
                <a:spcPts val="1000"/>
              </a:spcBef>
              <a:defRPr sz="1200" b="1">
                <a:solidFill>
                  <a:srgbClr val="F8FAFC"/>
                </a:solidFill>
              </a:defRPr>
            </a:pPr>
            <a:r>
              <a:t>• Top 50 Danger Corridor Nodes: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 Pulsing circular markers with radius proportional to local crime volume.</a:t>
            </a:r>
          </a:p>
          <a:p>
            <a:pPr>
              <a:spcBef>
                <a:spcPts val="1000"/>
              </a:spcBef>
              <a:defRPr sz="1200" b="1">
                <a:solidFill>
                  <a:srgbClr val="F8FAFC"/>
                </a:solidFill>
              </a:defRPr>
            </a:pPr>
            <a:r>
              <a:t>• Live Ingestion Header: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 Displays real-time Kafka throughput (3.3 ev/s), latency (12ms), and active surge alerts.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SVKM's NMIMS Navi Mumbai • B.Tech AI &amp; Data Science • Slide 5 of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366F1"/>
                </a:solidFill>
              </a:defRPr>
            </a:pPr>
            <a:r>
              <a:t>● STREAMING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Speed Layer: Real-Time Kafka Stream &amp; Anomaly Engine</a:t>
            </a:r>
          </a:p>
        </p:txBody>
      </p:sp>
      <p:pic>
        <p:nvPicPr>
          <p:cNvPr id="4" name="Picture 3" descr="slide2_kafka_termi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6583680" cy="41148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498079" y="1463040"/>
            <a:ext cx="3977639" cy="4663440"/>
          </a:xfrm>
          <a:prstGeom prst="roundRect">
            <a:avLst/>
          </a:prstGeom>
          <a:solidFill>
            <a:srgbClr val="131C31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26679" y="1691640"/>
            <a:ext cx="3520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59E0B"/>
                </a:solidFill>
              </a:defRPr>
            </a:pPr>
            <a:r>
              <a:t>📟 Real-Time Stream Terminal</a:t>
            </a:r>
          </a:p>
          <a:p>
            <a:pPr>
              <a:spcBef>
                <a:spcPts val="1000"/>
              </a:spcBef>
              <a:defRPr sz="1200" b="1">
                <a:solidFill>
                  <a:srgbClr val="F8FAFC"/>
                </a:solidFill>
              </a:defRPr>
            </a:pPr>
            <a:r>
              <a:t>• Topic 'live_crimes':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 Streams authentic NCRB incident vectors simulating live police dispatch feeds.</a:t>
            </a:r>
          </a:p>
          <a:p>
            <a:pPr>
              <a:spcBef>
                <a:spcPts val="1000"/>
              </a:spcBef>
              <a:defRPr sz="1200" b="1">
                <a:solidFill>
                  <a:srgbClr val="F8FAFC"/>
                </a:solidFill>
              </a:defRPr>
            </a:pPr>
            <a:r>
              <a:t>• 8 Distributed Partitions: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 P:0 to P:7 with offset commits (e.g. Offset 149,771) ensuring total ordering.</a:t>
            </a:r>
          </a:p>
          <a:p>
            <a:pPr>
              <a:spcBef>
                <a:spcPts val="1000"/>
              </a:spcBef>
              <a:defRPr sz="1200" b="1">
                <a:solidFill>
                  <a:srgbClr val="F8FAFC"/>
                </a:solidFill>
              </a:defRPr>
            </a:pPr>
            <a:r>
              <a:t>• Rolling Gaussian Z-Score: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 Evaluates Z = (Current_Rate - μ) / σ against historical district variance.</a:t>
            </a:r>
          </a:p>
          <a:p>
            <a:pPr>
              <a:spcBef>
                <a:spcPts val="1000"/>
              </a:spcBef>
              <a:defRPr sz="1200" b="1">
                <a:solidFill>
                  <a:srgbClr val="F8FAFC"/>
                </a:solidFill>
              </a:defRPr>
            </a:pPr>
            <a:r>
              <a:t>• Dual Alert Thresholds: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 Z &gt;= 2.5σ triggers Warning Surge; Z &gt;= 3.0σ escalates to Critical Tactical Patrol Dispatch.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SVKM's NMIMS Navi Mumbai • B.Tech AI &amp; Data Science • Slide 6 of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366F1"/>
                </a:solidFill>
              </a:defRPr>
            </a:pPr>
            <a:r>
              <a:t>● PREDICTIVE ANALYTICS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Distributed Machine Learning with Spark MLlib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429000" cy="4663440"/>
          </a:xfrm>
          <a:prstGeom prst="roundRect">
            <a:avLst/>
          </a:prstGeom>
          <a:solidFill>
            <a:srgbClr val="131C31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691640"/>
            <a:ext cx="2971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EA5E9"/>
                </a:solidFill>
              </a:defRPr>
            </a:pPr>
            <a:r>
              <a:t>🌐 Spatial Clustering (KMeans)</a:t>
            </a:r>
          </a:p>
          <a:p>
            <a:pPr>
              <a:spcBef>
                <a:spcPts val="800"/>
              </a:spcBef>
              <a:defRPr sz="1200" b="1">
                <a:solidFill>
                  <a:srgbClr val="F8FAFC"/>
                </a:solidFill>
              </a:defRPr>
            </a:pPr>
            <a:r>
              <a:t>• Hyperparameters: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K=15 clusters, maxIter=30, evaluated across coordinate space [Lat, Lon].</a:t>
            </a:r>
          </a:p>
          <a:p>
            <a:pPr>
              <a:spcBef>
                <a:spcPts val="800"/>
              </a:spcBef>
              <a:defRPr sz="1200" b="1">
                <a:solidFill>
                  <a:srgbClr val="F8FAFC"/>
                </a:solidFill>
              </a:defRPr>
            </a:pPr>
            <a:r>
              <a:t>• WSSSE Optimization: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Minimizes Within-Cluster Sum of Squared Errors across all centroids.</a:t>
            </a:r>
          </a:p>
          <a:p>
            <a:pPr>
              <a:spcBef>
                <a:spcPts val="800"/>
              </a:spcBef>
              <a:defRPr sz="1200" b="1">
                <a:solidFill>
                  <a:srgbClr val="F8FAFC"/>
                </a:solidFill>
              </a:defRPr>
            </a:pPr>
            <a:r>
              <a:t>• Corridor Discovery: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Segments India into 15 macro crime zones (Southern corridor, Northern plains, Western ports).</a:t>
            </a:r>
          </a:p>
          <a:p>
            <a:pPr>
              <a:spcBef>
                <a:spcPts val="800"/>
              </a:spcBef>
              <a:defRPr sz="1200" b="1">
                <a:solidFill>
                  <a:srgbClr val="F8FAFC"/>
                </a:solidFill>
              </a:defRPr>
            </a:pPr>
            <a:r>
              <a:t>• Cluster 3 Centroid: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Southern belt (AP, TN, Kerala): 10.47M crimes across 92 distinct districts.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463040"/>
            <a:ext cx="3429000" cy="4663440"/>
          </a:xfrm>
          <a:prstGeom prst="roundRect">
            <a:avLst/>
          </a:prstGeom>
          <a:solidFill>
            <a:srgbClr val="131C31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17720" y="1691640"/>
            <a:ext cx="2971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B981"/>
                </a:solidFill>
              </a:defRPr>
            </a:pPr>
            <a:r>
              <a:t>🌲 Severity Classifier (RF)</a:t>
            </a:r>
          </a:p>
          <a:p>
            <a:pPr>
              <a:spcBef>
                <a:spcPts val="800"/>
              </a:spcBef>
              <a:defRPr sz="1200" b="1">
                <a:solidFill>
                  <a:srgbClr val="F8FAFC"/>
                </a:solidFill>
              </a:defRPr>
            </a:pPr>
            <a:r>
              <a:t>• Model Ensemble: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100 decorrelated decision trees, max depth 10, evaluated on 80/20 train/test split.</a:t>
            </a:r>
          </a:p>
          <a:p>
            <a:pPr>
              <a:spcBef>
                <a:spcPts val="800"/>
              </a:spcBef>
              <a:defRPr sz="1200" b="1">
                <a:solidFill>
                  <a:srgbClr val="F8FAFC"/>
                </a:solidFill>
              </a:defRPr>
            </a:pPr>
            <a:r>
              <a:t>• 76.53% Accuracy: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Tested against 3,630 out-of-sample district-year evaluation vectors.</a:t>
            </a:r>
          </a:p>
          <a:p>
            <a:pPr>
              <a:spcBef>
                <a:spcPts val="800"/>
              </a:spcBef>
              <a:defRPr sz="1200" b="1">
                <a:solidFill>
                  <a:srgbClr val="F8FAFC"/>
                </a:solidFill>
              </a:defRPr>
            </a:pPr>
            <a:r>
              <a:t>• 0.9412 AUC-ROC: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Demonstrates exceptional discriminative capability for high-severity crime zones.</a:t>
            </a:r>
          </a:p>
          <a:p>
            <a:pPr>
              <a:spcBef>
                <a:spcPts val="800"/>
              </a:spcBef>
              <a:defRPr sz="1200" b="1">
                <a:solidFill>
                  <a:srgbClr val="F8FAFC"/>
                </a:solidFill>
              </a:defRPr>
            </a:pPr>
            <a:r>
              <a:t>• 100% Precision: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Zero false positives on test split (2,684 TN, 94 TP), eliminating costly false alarms.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463040"/>
            <a:ext cx="3429000" cy="4663440"/>
          </a:xfrm>
          <a:prstGeom prst="roundRect">
            <a:avLst/>
          </a:prstGeom>
          <a:solidFill>
            <a:srgbClr val="131C31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75320" y="1691640"/>
            <a:ext cx="2971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59E0B"/>
                </a:solidFill>
              </a:defRPr>
            </a:pPr>
            <a:r>
              <a:t>📊 Feature Importances (Gini)</a:t>
            </a:r>
          </a:p>
          <a:p>
            <a:pPr>
              <a:spcBef>
                <a:spcPts val="800"/>
              </a:spcBef>
              <a:defRPr sz="1200" b="1">
                <a:solidFill>
                  <a:srgbClr val="F8FAFC"/>
                </a:solidFill>
              </a:defRPr>
            </a:pPr>
            <a:r>
              <a:t>• 1. DISTRICT_RISK_SCORE: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34.86% — Historical 5-year moving average volume.</a:t>
            </a:r>
          </a:p>
          <a:p>
            <a:pPr>
              <a:spcBef>
                <a:spcPts val="800"/>
              </a:spcBef>
              <a:defRPr sz="1200" b="1">
                <a:solidFill>
                  <a:srgbClr val="F8FAFC"/>
                </a:solidFill>
              </a:defRPr>
            </a:pPr>
            <a:r>
              <a:t>• 2. CRIME_RATE_PER_100K: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26.48% — Population-standardized incidence rate.</a:t>
            </a:r>
          </a:p>
          <a:p>
            <a:pPr>
              <a:spcBef>
                <a:spcPts val="800"/>
              </a:spcBef>
              <a:defRPr sz="1200" b="1">
                <a:solidFill>
                  <a:srgbClr val="F8FAFC"/>
                </a:solidFill>
              </a:defRPr>
            </a:pPr>
            <a:r>
              <a:t>• 3. URBAN_PERCENTAGE: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11.08% — Urbanization concentration indicator.</a:t>
            </a:r>
          </a:p>
          <a:p>
            <a:pPr>
              <a:spcBef>
                <a:spcPts val="800"/>
              </a:spcBef>
              <a:defRPr sz="1200" b="1">
                <a:solidFill>
                  <a:srgbClr val="F8FAFC"/>
                </a:solidFill>
              </a:defRPr>
            </a:pPr>
            <a:r>
              <a:t>• 4. POPULATION_DENSITY: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9.32% — Demographic exposure factor.</a:t>
            </a:r>
          </a:p>
          <a:p>
            <a:pPr>
              <a:spcBef>
                <a:spcPts val="800"/>
              </a:spcBef>
              <a:defRPr sz="1200" b="1">
                <a:solidFill>
                  <a:srgbClr val="F8FAFC"/>
                </a:solidFill>
              </a:defRPr>
            </a:pPr>
            <a:r>
              <a:t>• 5. POLICE_PER_LAKH: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5.97% — Administrative law enforcement ratio.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SVKM's NMIMS Navi Mumbai • B.Tech AI &amp; Data Science • Slide 7 of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366F1"/>
                </a:solidFill>
              </a:defRPr>
            </a:pPr>
            <a:r>
              <a:t>● POLICY &amp; DECISION SUPPORT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AI Force Multiplier Resource Allocation Simulator</a:t>
            </a:r>
          </a:p>
        </p:txBody>
      </p:sp>
      <p:pic>
        <p:nvPicPr>
          <p:cNvPr id="4" name="Picture 3" descr="slide3_ai_simula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6583680" cy="41148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498079" y="1463040"/>
            <a:ext cx="3977639" cy="4663440"/>
          </a:xfrm>
          <a:prstGeom prst="roundRect">
            <a:avLst/>
          </a:prstGeom>
          <a:solidFill>
            <a:srgbClr val="131C31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26679" y="1691640"/>
            <a:ext cx="3520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0B981"/>
                </a:solidFill>
              </a:defRPr>
            </a:pPr>
            <a:r>
              <a:t>🛡️ Predictive Policing Sandbox</a:t>
            </a:r>
          </a:p>
          <a:p>
            <a:pPr>
              <a:spcBef>
                <a:spcPts val="1000"/>
              </a:spcBef>
              <a:defRPr sz="1200" b="1">
                <a:solidFill>
                  <a:srgbClr val="F8FAFC"/>
                </a:solidFill>
              </a:defRPr>
            </a:pPr>
            <a:r>
              <a:t>• Interactive Levers: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 Adjust Police Density (140/lakh), PCR Response Time (14 min), and Night Patrols (55%).</a:t>
            </a:r>
          </a:p>
          <a:p>
            <a:pPr>
              <a:spcBef>
                <a:spcPts val="1000"/>
              </a:spcBef>
              <a:defRPr sz="1200" b="1">
                <a:solidFill>
                  <a:srgbClr val="F8FAFC"/>
                </a:solidFill>
              </a:defRPr>
            </a:pPr>
            <a:r>
              <a:t>• Smart CCTV Grid Density: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 Simulate surveillance sensor density (40% to 85% monitored).</a:t>
            </a:r>
          </a:p>
          <a:p>
            <a:pPr>
              <a:spcBef>
                <a:spcPts val="1000"/>
              </a:spcBef>
              <a:defRPr sz="1200" b="1">
                <a:solidFill>
                  <a:srgbClr val="F8FAFC"/>
                </a:solidFill>
              </a:defRPr>
            </a:pPr>
            <a:r>
              <a:t>• Projected Impact: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 Real-time regression forecasting predicted crime deterrence (-2%) and apprehension surge (+9.1%).</a:t>
            </a:r>
          </a:p>
          <a:p>
            <a:pPr>
              <a:spcBef>
                <a:spcPts val="1000"/>
              </a:spcBef>
              <a:defRPr sz="1200" b="1">
                <a:solidFill>
                  <a:srgbClr val="F8FAFC"/>
                </a:solidFill>
              </a:defRPr>
            </a:pPr>
            <a:r>
              <a:t>• Crimes Averted Metric: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 Projects ~977 offences averted annually per optimized metropolitan sector.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SVKM's NMIMS Navi Mumbai • B.Tech AI &amp; Data Science • Slide 8 of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366F1"/>
                </a:solidFill>
              </a:defRPr>
            </a:pPr>
            <a:r>
              <a:t>● COMPARATIVE INTELLIGENCE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District Crime DNA Duel: Multi-Axis Radar Benchmark</a:t>
            </a:r>
          </a:p>
        </p:txBody>
      </p:sp>
      <p:pic>
        <p:nvPicPr>
          <p:cNvPr id="4" name="Picture 3" descr="slide4_district_du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6583680" cy="41148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498079" y="1463040"/>
            <a:ext cx="3977639" cy="4663440"/>
          </a:xfrm>
          <a:prstGeom prst="roundRect">
            <a:avLst/>
          </a:prstGeom>
          <a:solidFill>
            <a:srgbClr val="131C31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26679" y="1691640"/>
            <a:ext cx="3520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43F5E"/>
                </a:solidFill>
              </a:defRPr>
            </a:pPr>
            <a:r>
              <a:t>🥊 Head-to-Head Radar Profiling</a:t>
            </a:r>
          </a:p>
          <a:p>
            <a:pPr>
              <a:spcBef>
                <a:spcPts val="1000"/>
              </a:spcBef>
              <a:defRPr sz="1200" b="1">
                <a:solidFill>
                  <a:srgbClr val="F8FAFC"/>
                </a:solidFill>
              </a:defRPr>
            </a:pPr>
            <a:r>
              <a:t>• Direct District Duel: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 Benchmark any two districts (e.g. Bangalore vs. Mumbai) across 6 crime axes.</a:t>
            </a:r>
          </a:p>
          <a:p>
            <a:pPr>
              <a:spcBef>
                <a:spcPts val="1000"/>
              </a:spcBef>
              <a:defRPr sz="1200" b="1">
                <a:solidFill>
                  <a:srgbClr val="F8FAFC"/>
                </a:solidFill>
              </a:defRPr>
            </a:pPr>
            <a:r>
              <a:t>• 6 Evaluated Dimensions: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 Violent Crimes %, Property Theft %, Women Safety %, Economic Fraud %, Cybercrime %, and Other IPC %.</a:t>
            </a:r>
          </a:p>
          <a:p>
            <a:pPr>
              <a:spcBef>
                <a:spcPts val="1000"/>
              </a:spcBef>
              <a:defRPr sz="1200" b="1">
                <a:solidFill>
                  <a:srgbClr val="F8FAFC"/>
                </a:solidFill>
              </a:defRPr>
            </a:pPr>
            <a:r>
              <a:t>• Archetype Discovery: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 Both metros identified as 'High-Density Property Theft Hubs' with over 53% property offenses.</a:t>
            </a:r>
          </a:p>
          <a:p>
            <a:pPr>
              <a:spcBef>
                <a:spcPts val="1000"/>
              </a:spcBef>
              <a:defRPr sz="1200" b="1">
                <a:solidFill>
                  <a:srgbClr val="F8FAFC"/>
                </a:solidFill>
              </a:defRPr>
            </a:pPr>
            <a:r>
              <a:t>• Conviction &amp; Police Comparison: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 Mumbai exhibits 64.8% conviction vs. Bangalore's 42.7%; Police: 257.5 vs 202.6 per lakh.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SVKM's NMIMS Navi Mumbai • B.Tech AI &amp; Data Science • Slide 9 of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366F1"/>
                </a:solidFill>
              </a:defRPr>
            </a:pPr>
            <a:r>
              <a:t>● HISTORICAL &amp; OPERATIONAL DOSSIER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Longitudinal Crime Trends &amp; National District Dossier</a:t>
            </a:r>
          </a:p>
        </p:txBody>
      </p:sp>
      <p:pic>
        <p:nvPicPr>
          <p:cNvPr id="4" name="Picture 3" descr="slide5_macro_tren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5212080" cy="3257550"/>
          </a:xfrm>
          <a:prstGeom prst="rect">
            <a:avLst/>
          </a:prstGeom>
        </p:spPr>
      </p:pic>
      <p:pic>
        <p:nvPicPr>
          <p:cNvPr id="5" name="Picture 4" descr="slide6_dossier_matri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463040"/>
            <a:ext cx="5212080" cy="325755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" y="4754880"/>
            <a:ext cx="10698480" cy="1463040"/>
          </a:xfrm>
          <a:prstGeom prst="roundRect">
            <a:avLst/>
          </a:prstGeom>
          <a:solidFill>
            <a:srgbClr val="131C31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4892040"/>
            <a:ext cx="10241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EA5E9"/>
                </a:solidFill>
              </a:defRPr>
            </a:pPr>
            <a:r>
              <a:t>📈 Key Macro &amp; Operational Takeaways: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Longitudinal Analysis (2001–2022): Captures steady growth in property and cybercrime alongside clearance improvements, reflecting 2014 reporting reforms and 2020 pandemic mobility impacts.</a:t>
            </a:r>
            <a:br/>
            <a:r>
              <a:t>• National Intelligence Dossier: Searchable registry indexing 150+ districts by archetype, safety score, and police density with one-click 'Print Executive Dossier' briefing export.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SVKM's NMIMS Navi Mumbai • B.Tech AI &amp; Data Science • Slide 10 of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366F1"/>
                </a:solidFill>
              </a:defRPr>
            </a:pPr>
            <a:r>
              <a:t>● ACADEMIC &amp; TECHNICAL DELIVERABLES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Empirical Validation, Test Suite &amp; IEEE Research Paper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429000" cy="4663440"/>
          </a:xfrm>
          <a:prstGeom prst="roundRect">
            <a:avLst/>
          </a:prstGeom>
          <a:solidFill>
            <a:srgbClr val="131C31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691640"/>
            <a:ext cx="2971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EA5E9"/>
                </a:solidFill>
              </a:defRPr>
            </a:pPr>
            <a:r>
              <a:t>✔ 10/10 UNIT TESTS PASSING</a:t>
            </a:r>
          </a:p>
          <a:p>
            <a:pPr>
              <a:spcBef>
                <a:spcPts val="800"/>
              </a:spcBef>
              <a:defRPr sz="1200" b="1">
                <a:solidFill>
                  <a:srgbClr val="F8FAFC"/>
                </a:solidFill>
              </a:defRPr>
            </a:pPr>
            <a:r>
              <a:t>• test_pipeline.py: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Verifies deduplication, coordinate lookup, state mapping, and ratios.</a:t>
            </a:r>
          </a:p>
          <a:p>
            <a:pPr>
              <a:spcBef>
                <a:spcPts val="800"/>
              </a:spcBef>
              <a:defRPr sz="1200" b="1">
                <a:solidFill>
                  <a:srgbClr val="F8FAFC"/>
                </a:solidFill>
              </a:defRPr>
            </a:pPr>
            <a:r>
              <a:t>• test_live_stream.py: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Verifies authentic NCRB record loading, Kafka JSON events, and Z-score alerts.</a:t>
            </a:r>
          </a:p>
          <a:p>
            <a:pPr>
              <a:spcBef>
                <a:spcPts val="800"/>
              </a:spcBef>
              <a:defRPr sz="1200" b="1">
                <a:solidFill>
                  <a:srgbClr val="F8FAFC"/>
                </a:solidFill>
              </a:defRPr>
            </a:pPr>
            <a:r>
              <a:t>• 100% Pass Rate: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Ran 10 tests in 0.134s with zero regressions.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463040"/>
            <a:ext cx="3429000" cy="4663440"/>
          </a:xfrm>
          <a:prstGeom prst="roundRect">
            <a:avLst/>
          </a:prstGeom>
          <a:solidFill>
            <a:srgbClr val="131C31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691640"/>
            <a:ext cx="2971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59E0B"/>
                </a:solidFill>
              </a:defRPr>
            </a:pPr>
            <a:r>
              <a:t>⚡ PRODUCTION ARCHITECTURE</a:t>
            </a:r>
          </a:p>
          <a:p>
            <a:pPr>
              <a:spcBef>
                <a:spcPts val="800"/>
              </a:spcBef>
              <a:defRPr sz="1200" b="1">
                <a:solidFill>
                  <a:srgbClr val="F8FAFC"/>
                </a:solidFill>
              </a:defRPr>
            </a:pPr>
            <a:r>
              <a:t>• Snappy Parquet on HDFS: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82% compression ratio over CSV with predicate pushdown.</a:t>
            </a:r>
          </a:p>
          <a:p>
            <a:pPr>
              <a:spcBef>
                <a:spcPts val="800"/>
              </a:spcBef>
              <a:defRPr sz="1200" b="1">
                <a:solidFill>
                  <a:srgbClr val="F8FAFC"/>
                </a:solidFill>
              </a:defRPr>
            </a:pPr>
            <a:r>
              <a:t>• Apache Airflow DAG: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Daily scheduled pipeline orchestrating ETL and training.</a:t>
            </a:r>
          </a:p>
          <a:p>
            <a:pPr>
              <a:spcBef>
                <a:spcPts val="800"/>
              </a:spcBef>
              <a:defRPr sz="1200" b="1">
                <a:solidFill>
                  <a:srgbClr val="F8FAFC"/>
                </a:solidFill>
              </a:defRPr>
            </a:pPr>
            <a:r>
              <a:t>• 8 Kafka Broker Partitions: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Sub-20ms streaming latency and continuous rolling state flush.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80" y="1463040"/>
            <a:ext cx="3429000" cy="4663440"/>
          </a:xfrm>
          <a:prstGeom prst="roundRect">
            <a:avLst/>
          </a:prstGeom>
          <a:solidFill>
            <a:srgbClr val="131C31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83880" y="1691640"/>
            <a:ext cx="2971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0B981"/>
                </a:solidFill>
              </a:defRPr>
            </a:pPr>
            <a:r>
              <a:t>📄 IEEE RESEARCH PAPER</a:t>
            </a:r>
          </a:p>
          <a:p>
            <a:pPr>
              <a:spcBef>
                <a:spcPts val="800"/>
              </a:spcBef>
              <a:defRPr sz="1200" b="1">
                <a:solidFill>
                  <a:srgbClr val="F8FAFC"/>
                </a:solidFill>
              </a:defRPr>
            </a:pPr>
            <a:r>
              <a:t>• Standard IEEE Format: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Full 424-line LaTeX document in research_paper.tex.</a:t>
            </a:r>
          </a:p>
          <a:p>
            <a:pPr>
              <a:spcBef>
                <a:spcPts val="800"/>
              </a:spcBef>
              <a:defRPr sz="1200" b="1">
                <a:solidFill>
                  <a:srgbClr val="F8FAFC"/>
                </a:solidFill>
              </a:defRPr>
            </a:pPr>
            <a:r>
              <a:t>• Mathematical Rigor: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WSSSE KMeans, Gini impurity, and Gaussian Z-scores fully formulated.</a:t>
            </a:r>
          </a:p>
          <a:p>
            <a:pPr>
              <a:spcBef>
                <a:spcPts val="800"/>
              </a:spcBef>
              <a:defRPr sz="1200" b="1">
                <a:solidFill>
                  <a:srgbClr val="F8FAFC"/>
                </a:solidFill>
              </a:defRPr>
            </a:pPr>
            <a:r>
              <a:t>• Published to GitHub: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1-Click compilation ready for Overleaf and peer review.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SVKM's NMIMS Navi Mumbai • B.Tech AI &amp; Data Science • Slide 11 of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97280" y="914400"/>
            <a:ext cx="9997135" cy="5029200"/>
          </a:xfrm>
          <a:prstGeom prst="roundRect">
            <a:avLst/>
          </a:prstGeom>
          <a:solidFill>
            <a:srgbClr val="131C31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45920" y="1280160"/>
            <a:ext cx="89611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🎯 Summary of Achievements &amp; Conclusion</a:t>
            </a:r>
          </a:p>
          <a:p>
            <a:pPr>
              <a:spcAft>
                <a:spcPts val="1400"/>
              </a:spcAft>
              <a:defRPr sz="1500">
                <a:solidFill>
                  <a:srgbClr val="0EA5E9"/>
                </a:solidFill>
              </a:defRPr>
            </a:pPr>
            <a:r>
              <a:t>Bridging Retrospective Big Data Analytics with Sub-Second Real-Time Tactical Police Dispatch</a:t>
            </a:r>
          </a:p>
          <a:p>
            <a:pPr>
              <a:spcBef>
                <a:spcPts val="600"/>
              </a:spcBef>
              <a:defRPr sz="1300">
                <a:solidFill>
                  <a:srgbClr val="F8FAFC"/>
                </a:solidFill>
              </a:defRPr>
            </a:pPr>
            <a:r>
              <a:t>✔  Unifies 22 years of historical records (18,146 vectors) via Hadoop HDFS and PySpark distributed ETL.</a:t>
            </a:r>
          </a:p>
          <a:p>
            <a:pPr>
              <a:spcBef>
                <a:spcPts val="600"/>
              </a:spcBef>
              <a:defRPr sz="1300">
                <a:solidFill>
                  <a:srgbClr val="F8FAFC"/>
                </a:solidFill>
              </a:defRPr>
            </a:pPr>
            <a:r>
              <a:t>✔  Spark MLlib Random Forest delivers 76.53% accuracy and 0.9412 AUC-ROC with zero false-alarm dispatch waste.</a:t>
            </a:r>
          </a:p>
          <a:p>
            <a:pPr>
              <a:spcBef>
                <a:spcPts val="600"/>
              </a:spcBef>
              <a:defRPr sz="1300">
                <a:solidFill>
                  <a:srgbClr val="F8FAFC"/>
                </a:solidFill>
              </a:defRPr>
            </a:pPr>
            <a:r>
              <a:t>✔  Speed Layer sustains sub-20ms streaming latency across 8 Kafka partitions with rolling Z-score anomaly alerts.</a:t>
            </a:r>
          </a:p>
          <a:p>
            <a:pPr>
              <a:spcBef>
                <a:spcPts val="600"/>
              </a:spcBef>
              <a:defRPr sz="1300">
                <a:solidFill>
                  <a:srgbClr val="F8FAFC"/>
                </a:solidFill>
              </a:defRPr>
            </a:pPr>
            <a:r>
              <a:t>✔  Full interactive React GIS command center live at http://localhost:3000 with AI force multiplier sandbox.</a:t>
            </a:r>
          </a:p>
          <a:p>
            <a:pPr>
              <a:spcBef>
                <a:spcPts val="600"/>
              </a:spcBef>
              <a:defRPr sz="1300">
                <a:solidFill>
                  <a:srgbClr val="F8FAFC"/>
                </a:solidFill>
              </a:defRPr>
            </a:pPr>
            <a:r>
              <a:t>✔  Complete IEEE-formatted conference paper research_paper.tex committed and ready for publication.</a:t>
            </a:r>
          </a:p>
          <a:p>
            <a:pPr algn="ctr">
              <a:spcBef>
                <a:spcPts val="2000"/>
              </a:spcBef>
              <a:defRPr sz="2000" b="1">
                <a:solidFill>
                  <a:srgbClr val="F59E0B"/>
                </a:solidFill>
              </a:defRPr>
            </a:pPr>
            <a:r>
              <a:t>THANK YOU! We welcome questions from the panel.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SVKM's NMIMS Navi Mumbai • B.Tech AI &amp; Data Science • Slide 12 of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